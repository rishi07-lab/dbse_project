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0693400" cy="15138400"/>
  <p:notesSz cx="15138400" cy="10693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38" d="100"/>
          <a:sy n="38" d="100"/>
        </p:scale>
        <p:origin x="2563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75102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93908" cy="192024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20040"/>
            <a:ext cx="12801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00" name="Picture 100" descr="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760" y="752167"/>
            <a:ext cx="1160160" cy="415906"/>
          </a:xfrm>
          <a:prstGeom prst="rect">
            <a:avLst/>
          </a:prstGeom>
        </p:spPr>
      </p:pic>
      <p:sp>
        <p:nvSpPr>
          <p:cNvPr id="5" name="Text 3"/>
          <p:cNvSpPr txBox="1"/>
          <p:nvPr/>
        </p:nvSpPr>
        <p:spPr>
          <a:xfrm>
            <a:off x="1920240" y="228600"/>
            <a:ext cx="84079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3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</a:t>
            </a:r>
            <a:endParaRPr lang="en-US" sz="33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5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ID: ______  |  Section: ____  |  Members: Gandu Rishitha – 2520030101, Sree Haasini – 2520030491, A Priya – 2520030492  |  Guide: Dr. Y Prasanthi</a:t>
            </a:r>
            <a:endParaRPr lang="en-US" sz="33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5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Engineering and Distributed Backend Development (25CS1302E)  |  KLH University, Bachupally Campus, CSE  |  PBL 2026-27</a:t>
            </a:r>
            <a:endParaRPr lang="en-US" sz="3350" dirty="0"/>
          </a:p>
        </p:txBody>
      </p:sp>
      <p:sp>
        <p:nvSpPr>
          <p:cNvPr id="6" name="Shape 4"/>
          <p:cNvSpPr/>
          <p:nvPr/>
        </p:nvSpPr>
        <p:spPr>
          <a:xfrm>
            <a:off x="365760" y="2103120"/>
            <a:ext cx="4844034" cy="1645920"/>
          </a:xfrm>
          <a:prstGeom prst="roundRect">
            <a:avLst>
              <a:gd name="adj" fmla="val 4167"/>
            </a:avLst>
          </a:prstGeom>
          <a:solidFill>
            <a:srgbClr val="FEF3C7"/>
          </a:solidFill>
          <a:ln w="9525">
            <a:solidFill>
              <a:srgbClr val="B4530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" y="219456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2560320"/>
            <a:ext cx="456971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centralized, role-based web app managing patients, doctors, records, prescriptions, medicines, lab tests, billing, payments and insurance for four user roles.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React + Vite and a MySQL database to cut manual record-keeping and data-entry errors.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5760" y="3886200"/>
            <a:ext cx="4844034" cy="2286000"/>
          </a:xfrm>
          <a:prstGeom prst="roundRect">
            <a:avLst>
              <a:gd name="adj" fmla="val 3000"/>
            </a:avLst>
          </a:prstGeom>
          <a:solidFill>
            <a:srgbClr val="FCE7F3"/>
          </a:solidFill>
          <a:ln w="9525">
            <a:solidFill>
              <a:srgbClr val="BE185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397764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E18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4343400"/>
            <a:ext cx="456971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data is scattered across paper files and separate systems, causing slow retrieval and duplicate or inconsistent records.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1: </a:t>
            </a: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 patient, doctor, record and medicine data.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2: </a:t>
            </a: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Digitize lab, billing, payment and insurance work.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3: </a:t>
            </a: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each role its own dashboard on a MySQL schema.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</a:t>
            </a: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Admin, Doctor, Patient, Lab Staff; no appointments.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65760" y="6309360"/>
            <a:ext cx="4844034" cy="3017520"/>
          </a:xfrm>
          <a:prstGeom prst="roundRect">
            <a:avLst>
              <a:gd name="adj" fmla="val 2273"/>
            </a:avLst>
          </a:prstGeom>
          <a:solidFill>
            <a:srgbClr val="DBEAFE"/>
          </a:solidFill>
          <a:ln w="9525">
            <a:solidFill>
              <a:srgbClr val="1D4ED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02920" y="640080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vs Proposed System</a:t>
            </a:r>
            <a:endParaRPr lang="en-US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6766560"/>
          <a:ext cx="4617720" cy="233172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02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602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Existing System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 System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 files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modules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view for 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Role-based dashboards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 &amp; Billing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Handled separately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Integrated modules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quality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 entries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MySQL + validation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Scattered records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platform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365760" y="9464040"/>
            <a:ext cx="4844034" cy="2971800"/>
          </a:xfrm>
          <a:prstGeom prst="roundRect">
            <a:avLst>
              <a:gd name="adj" fmla="val 2308"/>
            </a:avLst>
          </a:prstGeom>
          <a:solidFill>
            <a:srgbClr val="DCFCE7"/>
          </a:solidFill>
          <a:ln w="9525">
            <a:solidFill>
              <a:srgbClr val="15803D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02920" y="955548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Study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502920" y="9921240"/>
            <a:ext cx="4569714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Technical: </a:t>
            </a: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React, Vite and MySQL – all free tools that run on standard PCs.</a:t>
            </a:r>
            <a:endParaRPr lang="en-US" sz="14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Economic: </a:t>
            </a: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open-source stack; no licensing or hosting cost.</a:t>
            </a:r>
            <a:endParaRPr lang="en-US" sz="14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Operational: </a:t>
            </a: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role-based dashboards; modular code is easy to maintain.</a:t>
            </a:r>
            <a:endParaRPr lang="en-US" sz="14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Schedule: </a:t>
            </a: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within the semester timeline.</a:t>
            </a:r>
            <a:endParaRPr lang="en-US" sz="1450" dirty="0"/>
          </a:p>
        </p:txBody>
      </p:sp>
      <p:sp>
        <p:nvSpPr>
          <p:cNvPr id="18" name="Shape 15"/>
          <p:cNvSpPr/>
          <p:nvPr/>
        </p:nvSpPr>
        <p:spPr>
          <a:xfrm>
            <a:off x="5484114" y="2103120"/>
            <a:ext cx="4844034" cy="2286000"/>
          </a:xfrm>
          <a:prstGeom prst="roundRect">
            <a:avLst>
              <a:gd name="adj" fmla="val 3000"/>
            </a:avLst>
          </a:prstGeom>
          <a:solidFill>
            <a:srgbClr val="E0F2FE"/>
          </a:solidFill>
          <a:ln w="9525">
            <a:solidFill>
              <a:srgbClr val="0369A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621274" y="219456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5621274" y="2560320"/>
            <a:ext cx="456971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Front-End: </a:t>
            </a: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React.js, JavaScript, HTML, CSS, Vite</a:t>
            </a:r>
            <a:endParaRPr lang="en-US" sz="14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Back-End: </a:t>
            </a: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/ data layer with REST-style APIs (Node.js + Express planned)</a:t>
            </a:r>
            <a:endParaRPr lang="en-US" sz="14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Database: </a:t>
            </a: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(designed with MySQL Workbench)</a:t>
            </a:r>
            <a:endParaRPr lang="en-US" sz="14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</a:t>
            </a: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GitHub, VS Code, MySQL Workbench, npm</a:t>
            </a:r>
            <a:endParaRPr lang="en-US" sz="1450" dirty="0"/>
          </a:p>
        </p:txBody>
      </p:sp>
      <p:sp>
        <p:nvSpPr>
          <p:cNvPr id="21" name="Shape 18"/>
          <p:cNvSpPr/>
          <p:nvPr/>
        </p:nvSpPr>
        <p:spPr>
          <a:xfrm>
            <a:off x="5484114" y="4526280"/>
            <a:ext cx="4844034" cy="2743200"/>
          </a:xfrm>
          <a:prstGeom prst="roundRect">
            <a:avLst>
              <a:gd name="adj" fmla="val 2500"/>
            </a:avLst>
          </a:prstGeom>
          <a:solidFill>
            <a:srgbClr val="EDE9FE"/>
          </a:solidFill>
          <a:ln w="9525">
            <a:solidFill>
              <a:srgbClr val="6D28D9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621274" y="461772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5621274" y="4983480"/>
            <a:ext cx="4569714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6D28D9"/>
            </a:solidFill>
            <a:prstDash val="dash"/>
          </a:ln>
        </p:spPr>
      </p:sp>
      <p:pic>
        <p:nvPicPr>
          <p:cNvPr id="101" name="Picture 101" descr="imag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1275" y="5013480"/>
            <a:ext cx="4509714" cy="2088839"/>
          </a:xfrm>
          <a:prstGeom prst="rect">
            <a:avLst/>
          </a:prstGeom>
        </p:spPr>
      </p:pic>
      <p:sp>
        <p:nvSpPr>
          <p:cNvPr id="25" name="Shape 22"/>
          <p:cNvSpPr/>
          <p:nvPr/>
        </p:nvSpPr>
        <p:spPr>
          <a:xfrm>
            <a:off x="5484114" y="7406640"/>
            <a:ext cx="4844034" cy="2514600"/>
          </a:xfrm>
          <a:prstGeom prst="roundRect">
            <a:avLst>
              <a:gd name="adj" fmla="val 2727"/>
            </a:avLst>
          </a:prstGeom>
          <a:solidFill>
            <a:srgbClr val="FFEDD5"/>
          </a:solidFill>
          <a:ln w="9525">
            <a:solidFill>
              <a:srgbClr val="C2410C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621274" y="749808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 &amp; Database Design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5621274" y="7863840"/>
            <a:ext cx="4569714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C2410C"/>
            </a:solidFill>
            <a:prstDash val="dash"/>
          </a:ln>
        </p:spPr>
      </p:sp>
      <p:pic>
        <p:nvPicPr>
          <p:cNvPr id="102" name="Picture 102" descr="image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1274" y="7893840"/>
            <a:ext cx="4676365" cy="1860239"/>
          </a:xfrm>
          <a:prstGeom prst="rect">
            <a:avLst/>
          </a:prstGeom>
        </p:spPr>
      </p:pic>
      <p:sp>
        <p:nvSpPr>
          <p:cNvPr id="29" name="Shape 26"/>
          <p:cNvSpPr/>
          <p:nvPr/>
        </p:nvSpPr>
        <p:spPr>
          <a:xfrm>
            <a:off x="5484114" y="10058400"/>
            <a:ext cx="4844034" cy="2377440"/>
          </a:xfrm>
          <a:prstGeom prst="roundRect">
            <a:avLst>
              <a:gd name="adj" fmla="val 2885"/>
            </a:avLst>
          </a:prstGeom>
          <a:solidFill>
            <a:srgbClr val="CCFBF1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5621274" y="1014984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Screenshots</a:t>
            </a:r>
            <a:endParaRPr lang="en-US" sz="1800" dirty="0"/>
          </a:p>
        </p:txBody>
      </p:sp>
      <p:sp>
        <p:nvSpPr>
          <p:cNvPr id="31" name="Shape 28"/>
          <p:cNvSpPr/>
          <p:nvPr/>
        </p:nvSpPr>
        <p:spPr>
          <a:xfrm>
            <a:off x="5621274" y="10515600"/>
            <a:ext cx="2216277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0F766E"/>
            </a:solidFill>
            <a:prstDash val="dash"/>
          </a:ln>
        </p:spPr>
      </p:sp>
      <p:pic>
        <p:nvPicPr>
          <p:cNvPr id="103" name="Picture 103" descr="image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51274" y="10557471"/>
            <a:ext cx="2156277" cy="1699337"/>
          </a:xfrm>
          <a:prstGeom prst="rect">
            <a:avLst/>
          </a:prstGeom>
        </p:spPr>
      </p:pic>
      <p:sp>
        <p:nvSpPr>
          <p:cNvPr id="33" name="Shape 30"/>
          <p:cNvSpPr/>
          <p:nvPr/>
        </p:nvSpPr>
        <p:spPr>
          <a:xfrm>
            <a:off x="7974711" y="10515600"/>
            <a:ext cx="2216277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0F766E"/>
            </a:solidFill>
            <a:prstDash val="dash"/>
          </a:ln>
        </p:spPr>
      </p:sp>
      <p:pic>
        <p:nvPicPr>
          <p:cNvPr id="104" name="Picture 104" descr="image7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4711" y="10602055"/>
            <a:ext cx="2156277" cy="1610170"/>
          </a:xfrm>
          <a:prstGeom prst="rect">
            <a:avLst/>
          </a:prstGeom>
        </p:spPr>
      </p:pic>
      <p:sp>
        <p:nvSpPr>
          <p:cNvPr id="35" name="Shape 32"/>
          <p:cNvSpPr/>
          <p:nvPr/>
        </p:nvSpPr>
        <p:spPr>
          <a:xfrm>
            <a:off x="365760" y="12573000"/>
            <a:ext cx="3137916" cy="1645920"/>
          </a:xfrm>
          <a:prstGeom prst="roundRect">
            <a:avLst>
              <a:gd name="adj" fmla="val 4167"/>
            </a:avLst>
          </a:prstGeom>
          <a:solidFill>
            <a:srgbClr val="FEE2E2"/>
          </a:solidFill>
          <a:ln w="9525">
            <a:solidFill>
              <a:srgbClr val="B91C1C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02920" y="12664440"/>
            <a:ext cx="28635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Testing</a:t>
            </a:r>
            <a:endParaRPr lang="en-US" sz="1800" dirty="0"/>
          </a:p>
        </p:txBody>
      </p:sp>
      <p:sp>
        <p:nvSpPr>
          <p:cNvPr id="37" name="Text 34"/>
          <p:cNvSpPr txBox="1"/>
          <p:nvPr/>
        </p:nvSpPr>
        <p:spPr>
          <a:xfrm>
            <a:off x="502920" y="13030200"/>
            <a:ext cx="28635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Forms, dashboards, navigation and role access tested across all modules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Validation, responsive layout, ₹ billing and MySQL schema verified</a:t>
            </a:r>
            <a:endParaRPr lang="en-US" sz="1250" dirty="0"/>
          </a:p>
        </p:txBody>
      </p:sp>
      <p:sp>
        <p:nvSpPr>
          <p:cNvPr id="38" name="Shape 35"/>
          <p:cNvSpPr/>
          <p:nvPr/>
        </p:nvSpPr>
        <p:spPr>
          <a:xfrm>
            <a:off x="3777996" y="12573000"/>
            <a:ext cx="3137916" cy="1645920"/>
          </a:xfrm>
          <a:prstGeom prst="roundRect">
            <a:avLst>
              <a:gd name="adj" fmla="val 4167"/>
            </a:avLst>
          </a:prstGeom>
          <a:solidFill>
            <a:srgbClr val="ECFCCB"/>
          </a:solidFill>
          <a:ln w="9525">
            <a:solidFill>
              <a:srgbClr val="4D7C0F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3915156" y="12664440"/>
            <a:ext cx="28635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D7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800" dirty="0"/>
          </a:p>
        </p:txBody>
      </p:sp>
      <p:sp>
        <p:nvSpPr>
          <p:cNvPr id="40" name="Text 37"/>
          <p:cNvSpPr txBox="1"/>
          <p:nvPr/>
        </p:nvSpPr>
        <p:spPr>
          <a:xfrm>
            <a:off x="3915156" y="13030200"/>
            <a:ext cx="28635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Centralized, modular HMS with 4 role-based dashboards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Meets objectives: structured data, less manual effort</a:t>
            </a:r>
            <a:endParaRPr lang="en-US" sz="1250" dirty="0"/>
          </a:p>
        </p:txBody>
      </p:sp>
      <p:sp>
        <p:nvSpPr>
          <p:cNvPr id="41" name="Shape 38"/>
          <p:cNvSpPr/>
          <p:nvPr/>
        </p:nvSpPr>
        <p:spPr>
          <a:xfrm>
            <a:off x="7190232" y="12573000"/>
            <a:ext cx="3137916" cy="1645920"/>
          </a:xfrm>
          <a:prstGeom prst="roundRect">
            <a:avLst>
              <a:gd name="adj" fmla="val 4167"/>
            </a:avLst>
          </a:prstGeom>
          <a:solidFill>
            <a:srgbClr val="FAE8FF"/>
          </a:solidFill>
          <a:ln w="9525">
            <a:solidFill>
              <a:srgbClr val="A21CA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7327392" y="12664440"/>
            <a:ext cx="28635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21C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800" dirty="0"/>
          </a:p>
        </p:txBody>
      </p:sp>
      <p:sp>
        <p:nvSpPr>
          <p:cNvPr id="43" name="Text 40"/>
          <p:cNvSpPr txBox="1"/>
          <p:nvPr/>
        </p:nvSpPr>
        <p:spPr>
          <a:xfrm>
            <a:off x="7327392" y="13030200"/>
            <a:ext cx="28635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Node.js/Express backend with secure authentication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Appointments, notifications and analytics</a:t>
            </a:r>
            <a:endParaRPr lang="en-US" sz="1250" dirty="0"/>
          </a:p>
        </p:txBody>
      </p:sp>
      <p:sp>
        <p:nvSpPr>
          <p:cNvPr id="44" name="Text 41"/>
          <p:cNvSpPr txBox="1"/>
          <p:nvPr/>
        </p:nvSpPr>
        <p:spPr>
          <a:xfrm>
            <a:off x="365760" y="14356080"/>
            <a:ext cx="76763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References: [1] React and Vite Documentation   [2] MySQL 8.0 Reference Manual   [3] Hospital Management System Project Report, KLH University, 2025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9505188" y="14264640"/>
            <a:ext cx="8229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94A3B8"/>
            </a:solidFill>
            <a:prstDash val="dash"/>
          </a:ln>
        </p:spPr>
      </p:sp>
      <p:sp>
        <p:nvSpPr>
          <p:cNvPr id="46" name="Text 43"/>
          <p:cNvSpPr txBox="1"/>
          <p:nvPr/>
        </p:nvSpPr>
        <p:spPr>
          <a:xfrm>
            <a:off x="9505188" y="142646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QR: GitHub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433</Words>
  <Application>Microsoft Office PowerPoint</Application>
  <PresentationFormat>Custom</PresentationFormat>
  <Paragraphs>56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shrinithagandu@outlook.com</cp:lastModifiedBy>
  <cp:revision>2</cp:revision>
  <dcterms:created xsi:type="dcterms:W3CDTF">2026-09-28T08:11:17Z</dcterms:created>
  <dcterms:modified xsi:type="dcterms:W3CDTF">2026-10-01T16:30:04Z</dcterms:modified>
</cp:coreProperties>
</file>