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78" d="100"/>
          <a:sy n="78" d="100"/>
        </p:scale>
        <p:origin x="264"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8/16/2026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16-08-2026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16-08-2026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16-08-2026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16-08-2026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16-08-2026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16-08-2026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16-08-2026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16-08-2026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16-08-2026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16-08-2026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16-08-2026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16-08-2026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16-08-2026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16-08-2026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16-08-2026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16-08-2026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16-08-2026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16-08-2026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400" b="1" dirty="0">
                <a:solidFill>
                  <a:schemeClr val="accent1"/>
                </a:solidFill>
                <a:latin typeface="Times New Roman" panose="02020603050405020304" pitchFamily="18" charset="0"/>
                <a:cs typeface="Times New Roman" panose="02020603050405020304" pitchFamily="18" charset="0"/>
              </a:rPr>
              <a:t>Hospital Management &amp; Appointment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5515750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 G. Rishitha</a:t>
                      </a:r>
                    </a:p>
                  </a:txBody>
                  <a:tcPr/>
                </a:tc>
                <a:tc>
                  <a:txBody>
                    <a:bodyPr/>
                    <a:lstStyle/>
                    <a:p>
                      <a:r>
                        <a:rPr lang="en-US" dirty="0"/>
                        <a:t>2520030101</a:t>
                      </a:r>
                    </a:p>
                  </a:txBody>
                  <a:tcPr/>
                </a:tc>
                <a:extLst>
                  <a:ext uri="{0D108BD9-81ED-4DB2-BD59-A6C34878D82A}">
                    <a16:rowId xmlns:a16="http://schemas.microsoft.com/office/drawing/2014/main" val="253518174"/>
                  </a:ext>
                </a:extLst>
              </a:tr>
              <a:tr h="370840">
                <a:tc>
                  <a:txBody>
                    <a:bodyPr/>
                    <a:lstStyle/>
                    <a:p>
                      <a:r>
                        <a:rPr lang="en-IN" dirty="0"/>
                        <a:t>Sree Haasini</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2520030491 </a:t>
                      </a:r>
                    </a:p>
                  </a:txBody>
                  <a:tcPr/>
                </a:tc>
                <a:extLst>
                  <a:ext uri="{0D108BD9-81ED-4DB2-BD59-A6C34878D82A}">
                    <a16:rowId xmlns:a16="http://schemas.microsoft.com/office/drawing/2014/main" val="2413438055"/>
                  </a:ext>
                </a:extLst>
              </a:tr>
              <a:tr h="370840">
                <a:tc>
                  <a:txBody>
                    <a:bodyPr/>
                    <a:lstStyle/>
                    <a:p>
                      <a:r>
                        <a:rPr lang="en-IN" dirty="0"/>
                        <a:t>A. Priya</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2520030492</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4118987977"/>
              </p:ext>
            </p:extLst>
          </p:nvPr>
        </p:nvGraphicFramePr>
        <p:xfrm>
          <a:off x="838199" y="1416193"/>
          <a:ext cx="10515600" cy="2318206"/>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G . Rishitha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Sree Haasini</a:t>
                      </a:r>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Priya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0" dirty="0">
                          <a:solidFill>
                            <a:schemeClr val="tx1">
                              <a:alpha val="31000"/>
                            </a:schemeClr>
                          </a:solidFill>
                        </a:rPr>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177185"/>
            <a:ext cx="10515600" cy="1325563"/>
          </a:xfrm>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402838"/>
            <a:ext cx="10515600" cy="4351338"/>
          </a:xfrm>
        </p:spPr>
        <p:txBody>
          <a:bodyPr>
            <a:normAutofit fontScale="55000" lnSpcReduction="20000"/>
          </a:bodyPr>
          <a:lstStyle/>
          <a:p>
            <a:pPr algn="just"/>
            <a:r>
              <a:rPr lang="en-IN" sz="2900" dirty="0">
                <a:latin typeface="Times New Roman" panose="02020603050405020304" pitchFamily="18" charset="0"/>
                <a:cs typeface="Times New Roman" panose="02020603050405020304" pitchFamily="18" charset="0"/>
              </a:rPr>
              <a:t>The </a:t>
            </a:r>
            <a:r>
              <a:rPr lang="en-IN" sz="2900" b="1" dirty="0">
                <a:latin typeface="Times New Roman" panose="02020603050405020304" pitchFamily="18" charset="0"/>
                <a:cs typeface="Times New Roman" panose="02020603050405020304" pitchFamily="18" charset="0"/>
              </a:rPr>
              <a:t>Hospital Management &amp; Appointment System</a:t>
            </a:r>
            <a:r>
              <a:rPr lang="en-IN" sz="2900" dirty="0">
                <a:latin typeface="Times New Roman" panose="02020603050405020304" pitchFamily="18" charset="0"/>
                <a:cs typeface="Times New Roman" panose="02020603050405020304" pitchFamily="18" charset="0"/>
              </a:rPr>
              <a:t> is an integrated web-based portal designed to digitize and simplify the management of hospital operations. The system provides a centralized platform for patients, doctors, and administrators to manage healthcare-related activities efficiently. It includes Patient Registration and Electronic Medical</a:t>
            </a:r>
            <a:r>
              <a:rPr lang="en-IN" sz="2900" b="1" dirty="0">
                <a:latin typeface="Times New Roman" panose="02020603050405020304" pitchFamily="18" charset="0"/>
                <a:cs typeface="Times New Roman" panose="02020603050405020304" pitchFamily="18" charset="0"/>
              </a:rPr>
              <a:t> </a:t>
            </a:r>
            <a:r>
              <a:rPr lang="en-IN" sz="2900" dirty="0">
                <a:latin typeface="Times New Roman" panose="02020603050405020304" pitchFamily="18" charset="0"/>
                <a:cs typeface="Times New Roman" panose="02020603050405020304" pitchFamily="18" charset="0"/>
              </a:rPr>
              <a:t>Records (EMR), allowing patient details and medical history to be stored and accessed easily. </a:t>
            </a:r>
          </a:p>
          <a:p>
            <a:pPr algn="just"/>
            <a:endParaRPr lang="en-IN" sz="2900" dirty="0">
              <a:latin typeface="Times New Roman" panose="02020603050405020304" pitchFamily="18" charset="0"/>
              <a:cs typeface="Times New Roman" panose="02020603050405020304" pitchFamily="18" charset="0"/>
            </a:endParaRPr>
          </a:p>
          <a:p>
            <a:pPr algn="just"/>
            <a:r>
              <a:rPr lang="en-IN" sz="2900" dirty="0">
                <a:latin typeface="Times New Roman" panose="02020603050405020304" pitchFamily="18" charset="0"/>
                <a:cs typeface="Times New Roman" panose="02020603050405020304" pitchFamily="18" charset="0"/>
              </a:rPr>
              <a:t>The Doctor Appointment module enables patients to book appointments with doctors based on their availability. Token and Queue Management helps organize patient flow and reduces waiting time. The system also includes Billing and</a:t>
            </a:r>
            <a:r>
              <a:rPr lang="en-IN" sz="2900" b="1" dirty="0">
                <a:latin typeface="Times New Roman" panose="02020603050405020304" pitchFamily="18" charset="0"/>
                <a:cs typeface="Times New Roman" panose="02020603050405020304" pitchFamily="18" charset="0"/>
              </a:rPr>
              <a:t> </a:t>
            </a:r>
            <a:r>
              <a:rPr lang="en-IN" sz="2900" dirty="0">
                <a:latin typeface="Times New Roman" panose="02020603050405020304" pitchFamily="18" charset="0"/>
                <a:cs typeface="Times New Roman" panose="02020603050405020304" pitchFamily="18" charset="0"/>
              </a:rPr>
              <a:t>Insurance Management to maintain payment and insurance-related information. The Pharmacy and Inventory Management module helps track medicines, stock levels, and availability. Laboratory Reports can be managed and accessed through the system for better record maintenance. An Admin Dashboard provides administrators with an overview of hospital activities and helps them manage users, appointments, records, and other services.  </a:t>
            </a:r>
          </a:p>
          <a:p>
            <a:pPr algn="just"/>
            <a:endParaRPr lang="en-IN" sz="2900" dirty="0">
              <a:latin typeface="Times New Roman" panose="02020603050405020304" pitchFamily="18" charset="0"/>
              <a:cs typeface="Times New Roman" panose="02020603050405020304" pitchFamily="18" charset="0"/>
            </a:endParaRPr>
          </a:p>
          <a:p>
            <a:pPr algn="just"/>
            <a:r>
              <a:rPr lang="en-IN" sz="2900" dirty="0">
                <a:latin typeface="Times New Roman" panose="02020603050405020304" pitchFamily="18" charset="0"/>
                <a:cs typeface="Times New Roman" panose="02020603050405020304" pitchFamily="18" charset="0"/>
              </a:rPr>
              <a:t>The system reduces paperwork, minimizes manual errors, improves data organization, and increases the efficiency of hospital services. It provides a user-friendly and secure environment for managing hospital operations. The proposed system will be developed using React.js for the frontend, Node.js and Express for the backend, MySQL for database management, </a:t>
            </a:r>
            <a:r>
              <a:rPr lang="en-IN" sz="2900" dirty="0" err="1">
                <a:latin typeface="Times New Roman" panose="02020603050405020304" pitchFamily="18" charset="0"/>
                <a:cs typeface="Times New Roman" panose="02020603050405020304" pitchFamily="18" charset="0"/>
              </a:rPr>
              <a:t>Sequelize</a:t>
            </a:r>
            <a:r>
              <a:rPr lang="en-IN" sz="2900" dirty="0">
                <a:latin typeface="Times New Roman" panose="02020603050405020304" pitchFamily="18" charset="0"/>
                <a:cs typeface="Times New Roman" panose="02020603050405020304" pitchFamily="18" charset="0"/>
              </a:rPr>
              <a:t> for database interaction, and JWT for authentication and authorization. Overall, the system aims to provide a reliable, efficient, and organized solution for modern hospital management and appointment scheduling.</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Hospital Management &amp; Appointment System</a:t>
            </a:r>
            <a:r>
              <a:rPr lang="en-IN" dirty="0">
                <a:latin typeface="Times New Roman" panose="02020603050405020304" pitchFamily="18" charset="0"/>
                <a:cs typeface="Times New Roman" panose="02020603050405020304" pitchFamily="18" charset="0"/>
              </a:rPr>
              <a:t> is a full-stack, database-driven platform developed to manage the complete patient-care and clinical workflow.</a:t>
            </a:r>
          </a:p>
          <a:p>
            <a:r>
              <a:rPr lang="en-IN" dirty="0">
                <a:latin typeface="Times New Roman" panose="02020603050405020304" pitchFamily="18" charset="0"/>
                <a:cs typeface="Times New Roman" panose="02020603050405020304" pitchFamily="18" charset="0"/>
              </a:rPr>
              <a:t>The system connects </a:t>
            </a:r>
            <a:r>
              <a:rPr lang="en-IN" b="1" dirty="0">
                <a:latin typeface="Times New Roman" panose="02020603050405020304" pitchFamily="18" charset="0"/>
                <a:cs typeface="Times New Roman" panose="02020603050405020304" pitchFamily="18" charset="0"/>
              </a:rPr>
              <a:t>Patients, Doctors, and Admin</a:t>
            </a:r>
            <a:r>
              <a:rPr lang="en-IN" dirty="0">
                <a:latin typeface="Times New Roman" panose="02020603050405020304" pitchFamily="18" charset="0"/>
                <a:cs typeface="Times New Roman" panose="02020603050405020304" pitchFamily="18" charset="0"/>
              </a:rPr>
              <a:t> through a centralized platform.</a:t>
            </a:r>
          </a:p>
          <a:p>
            <a:r>
              <a:rPr lang="en-IN" dirty="0">
                <a:latin typeface="Times New Roman" panose="02020603050405020304" pitchFamily="18" charset="0"/>
                <a:cs typeface="Times New Roman" panose="02020603050405020304" pitchFamily="18" charset="0"/>
              </a:rPr>
              <a:t>It covers the complete hospital workflow from:</a:t>
            </a:r>
          </a:p>
          <a:p>
            <a:r>
              <a:rPr lang="en-IN" b="1" dirty="0">
                <a:latin typeface="Times New Roman" panose="02020603050405020304" pitchFamily="18" charset="0"/>
                <a:cs typeface="Times New Roman" panose="02020603050405020304" pitchFamily="18" charset="0"/>
              </a:rPr>
              <a:t>Patient Registration → Appointment → Token &amp; Queue → Consultation → Laboratory → Pharmacy → Billing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system aims to provide a </a:t>
            </a:r>
            <a:r>
              <a:rPr lang="en-IN" b="1" dirty="0">
                <a:latin typeface="Times New Roman" panose="02020603050405020304" pitchFamily="18" charset="0"/>
                <a:cs typeface="Times New Roman" panose="02020603050405020304" pitchFamily="18" charset="0"/>
              </a:rPr>
              <a:t>secure, organized, efficient, and reliable</a:t>
            </a:r>
            <a:r>
              <a:rPr lang="en-IN" dirty="0">
                <a:latin typeface="Times New Roman" panose="02020603050405020304" pitchFamily="18" charset="0"/>
                <a:cs typeface="Times New Roman" panose="02020603050405020304" pitchFamily="18" charset="0"/>
              </a:rPr>
              <a:t> environment for modern hospital management.</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92500"/>
          </a:bodyPr>
          <a:lstStyle/>
          <a:p>
            <a:r>
              <a:rPr lang="en-IN" b="1" dirty="0">
                <a:latin typeface="Times New Roman" panose="02020603050405020304" pitchFamily="18" charset="0"/>
                <a:cs typeface="Times New Roman" panose="02020603050405020304" pitchFamily="18" charset="0"/>
              </a:rPr>
              <a:t>1. Manual, paper-based records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Lead to lost data, duplication, and slow retrieval of patient history.</a:t>
            </a:r>
          </a:p>
          <a:p>
            <a:r>
              <a:rPr lang="en-IN" b="1" dirty="0">
                <a:latin typeface="Times New Roman" panose="02020603050405020304" pitchFamily="18" charset="0"/>
                <a:cs typeface="Times New Roman" panose="02020603050405020304" pitchFamily="18" charset="0"/>
              </a:rPr>
              <a:t>2. Long queues with no token visibility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Patients wait without knowing the real-time status of their turn.</a:t>
            </a:r>
          </a:p>
          <a:p>
            <a:r>
              <a:rPr lang="en-IN" b="1" dirty="0">
                <a:latin typeface="Times New Roman" panose="02020603050405020304" pitchFamily="18" charset="0"/>
                <a:cs typeface="Times New Roman" panose="02020603050405020304" pitchFamily="18" charset="0"/>
              </a:rPr>
              <a:t>3. Disconnected departments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Reception, doctors, pharmacy, laboratory, and billing operate in silos.</a:t>
            </a:r>
          </a:p>
          <a:p>
            <a:r>
              <a:rPr lang="en-IN" b="1" dirty="0">
                <a:latin typeface="Times New Roman" panose="02020603050405020304" pitchFamily="18" charset="0"/>
                <a:cs typeface="Times New Roman" panose="02020603050405020304" pitchFamily="18" charset="0"/>
              </a:rPr>
              <a:t>4. No centralized EMR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Doctors lack instant access to past diagnoses, prescriptions, and reports.</a:t>
            </a:r>
          </a:p>
          <a:p>
            <a:r>
              <a:rPr lang="en-IN" b="1" dirty="0">
                <a:latin typeface="Times New Roman" panose="02020603050405020304" pitchFamily="18" charset="0"/>
                <a:cs typeface="Times New Roman" panose="02020603050405020304" pitchFamily="18" charset="0"/>
              </a:rPr>
              <a:t>5. Billing and insurance errors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Manual computation causes mismatched invoices and delays</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lnSpcReduction="10000"/>
          </a:bodyPr>
          <a:lstStyle/>
          <a:p>
            <a:pPr lvl="0"/>
            <a:r>
              <a:rPr lang="en-IN" dirty="0">
                <a:latin typeface="Times New Roman" panose="02020603050405020304" pitchFamily="18" charset="0"/>
                <a:cs typeface="Times New Roman" panose="02020603050405020304" pitchFamily="18" charset="0"/>
              </a:rPr>
              <a:t>Hospital operations are </a:t>
            </a:r>
            <a:r>
              <a:rPr lang="en-IN" b="1" dirty="0">
                <a:latin typeface="Times New Roman" panose="02020603050405020304" pitchFamily="18" charset="0"/>
                <a:cs typeface="Times New Roman" panose="02020603050405020304" pitchFamily="18" charset="0"/>
              </a:rPr>
              <a:t>time-consuming and inefficient</a:t>
            </a:r>
            <a:r>
              <a:rPr lang="en-IN" dirty="0">
                <a:latin typeface="Times New Roman" panose="02020603050405020304" pitchFamily="18" charset="0"/>
                <a:cs typeface="Times New Roman" panose="02020603050405020304" pitchFamily="18" charset="0"/>
              </a:rPr>
              <a:t> due to excessive manual work. </a:t>
            </a:r>
          </a:p>
          <a:p>
            <a:pPr lvl="0"/>
            <a:r>
              <a:rPr lang="en-IN" dirty="0">
                <a:latin typeface="Times New Roman" panose="02020603050405020304" pitchFamily="18" charset="0"/>
                <a:cs typeface="Times New Roman" panose="02020603050405020304" pitchFamily="18" charset="0"/>
              </a:rPr>
              <a:t>Patients face </a:t>
            </a:r>
            <a:r>
              <a:rPr lang="en-IN" b="1" dirty="0">
                <a:latin typeface="Times New Roman" panose="02020603050405020304" pitchFamily="18" charset="0"/>
                <a:cs typeface="Times New Roman" panose="02020603050405020304" pitchFamily="18" charset="0"/>
              </a:rPr>
              <a:t>delays in appointment scheduling and consultation</a:t>
            </a:r>
            <a:r>
              <a:rPr lang="en-IN" dirty="0">
                <a:latin typeface="Times New Roman" panose="02020603050405020304" pitchFamily="18" charset="0"/>
                <a:cs typeface="Times New Roman" panose="02020603050405020304" pitchFamily="18" charset="0"/>
              </a:rPr>
              <a:t> because of poor queue management. </a:t>
            </a:r>
          </a:p>
          <a:p>
            <a:pPr lvl="0"/>
            <a:r>
              <a:rPr lang="en-IN" dirty="0">
                <a:latin typeface="Times New Roman" panose="02020603050405020304" pitchFamily="18" charset="0"/>
                <a:cs typeface="Times New Roman" panose="02020603050405020304" pitchFamily="18" charset="0"/>
              </a:rPr>
              <a:t>Doctors may not have </a:t>
            </a:r>
            <a:r>
              <a:rPr lang="en-IN" b="1" dirty="0">
                <a:latin typeface="Times New Roman" panose="02020603050405020304" pitchFamily="18" charset="0"/>
                <a:cs typeface="Times New Roman" panose="02020603050405020304" pitchFamily="18" charset="0"/>
              </a:rPr>
              <a:t>quick access to complete patient medical history</a:t>
            </a:r>
            <a:r>
              <a:rPr lang="en-IN" dirty="0">
                <a:latin typeface="Times New Roman" panose="02020603050405020304" pitchFamily="18" charset="0"/>
                <a:cs typeface="Times New Roman" panose="02020603050405020304" pitchFamily="18" charset="0"/>
              </a:rPr>
              <a:t> when required. </a:t>
            </a:r>
          </a:p>
          <a:p>
            <a:pPr lvl="0"/>
            <a:r>
              <a:rPr lang="en-IN" dirty="0">
                <a:latin typeface="Times New Roman" panose="02020603050405020304" pitchFamily="18" charset="0"/>
                <a:cs typeface="Times New Roman" panose="02020603050405020304" pitchFamily="18" charset="0"/>
              </a:rPr>
              <a:t>Lack of integration between departments causes </a:t>
            </a:r>
            <a:r>
              <a:rPr lang="en-IN" b="1" dirty="0">
                <a:latin typeface="Times New Roman" panose="02020603050405020304" pitchFamily="18" charset="0"/>
                <a:cs typeface="Times New Roman" panose="02020603050405020304" pitchFamily="18" charset="0"/>
              </a:rPr>
              <a:t>difficulty in sharing and managing information</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Manual processes can result in </a:t>
            </a:r>
            <a:r>
              <a:rPr lang="en-IN" b="1" dirty="0">
                <a:latin typeface="Times New Roman" panose="02020603050405020304" pitchFamily="18" charset="0"/>
                <a:cs typeface="Times New Roman" panose="02020603050405020304" pitchFamily="18" charset="0"/>
              </a:rPr>
              <a:t>data inaccuracies, billing errors, and delays</a:t>
            </a:r>
            <a:r>
              <a:rPr lang="en-IN"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70000" lnSpcReduction="20000"/>
          </a:bodyPr>
          <a:lstStyle/>
          <a:p>
            <a:r>
              <a:rPr lang="en-IN" dirty="0">
                <a:latin typeface="Times New Roman" panose="02020603050405020304" pitchFamily="18" charset="0"/>
                <a:cs typeface="Times New Roman" panose="02020603050405020304" pitchFamily="18" charset="0"/>
              </a:rPr>
              <a:t>The proposed system provides a </a:t>
            </a:r>
            <a:r>
              <a:rPr lang="en-IN" b="1" dirty="0">
                <a:latin typeface="Times New Roman" panose="02020603050405020304" pitchFamily="18" charset="0"/>
                <a:cs typeface="Times New Roman" panose="02020603050405020304" pitchFamily="18" charset="0"/>
              </a:rPr>
              <a:t>centralized web-based platform</a:t>
            </a:r>
            <a:r>
              <a:rPr lang="en-IN" dirty="0">
                <a:latin typeface="Times New Roman" panose="02020603050405020304" pitchFamily="18" charset="0"/>
                <a:cs typeface="Times New Roman" panose="02020603050405020304" pitchFamily="18" charset="0"/>
              </a:rPr>
              <a:t> that integrates major hospital operations.</a:t>
            </a:r>
          </a:p>
          <a:p>
            <a:r>
              <a:rPr lang="en-IN" dirty="0">
                <a:latin typeface="Times New Roman" panose="02020603050405020304" pitchFamily="18" charset="0"/>
                <a:cs typeface="Times New Roman" panose="02020603050405020304" pitchFamily="18" charset="0"/>
              </a:rPr>
              <a:t>It provides:</a:t>
            </a:r>
          </a:p>
          <a:p>
            <a:pPr lvl="0"/>
            <a:r>
              <a:rPr lang="en-IN" dirty="0">
                <a:latin typeface="Times New Roman" panose="02020603050405020304" pitchFamily="18" charset="0"/>
                <a:cs typeface="Times New Roman" panose="02020603050405020304" pitchFamily="18" charset="0"/>
              </a:rPr>
              <a:t>Digital Patient Registration and EMR </a:t>
            </a:r>
          </a:p>
          <a:p>
            <a:pPr lvl="0"/>
            <a:r>
              <a:rPr lang="en-IN" dirty="0">
                <a:latin typeface="Times New Roman" panose="02020603050405020304" pitchFamily="18" charset="0"/>
                <a:cs typeface="Times New Roman" panose="02020603050405020304" pitchFamily="18" charset="0"/>
              </a:rPr>
              <a:t>Doctor availability and appointment scheduling </a:t>
            </a:r>
          </a:p>
          <a:p>
            <a:pPr lvl="0"/>
            <a:r>
              <a:rPr lang="en-IN" dirty="0">
                <a:latin typeface="Times New Roman" panose="02020603050405020304" pitchFamily="18" charset="0"/>
                <a:cs typeface="Times New Roman" panose="02020603050405020304" pitchFamily="18" charset="0"/>
              </a:rPr>
              <a:t>Real-time token and queue management </a:t>
            </a:r>
          </a:p>
          <a:p>
            <a:pPr lvl="0"/>
            <a:r>
              <a:rPr lang="en-IN" dirty="0">
                <a:latin typeface="Times New Roman" panose="02020603050405020304" pitchFamily="18" charset="0"/>
                <a:cs typeface="Times New Roman" panose="02020603050405020304" pitchFamily="18" charset="0"/>
              </a:rPr>
              <a:t>Automated billing and insurance management </a:t>
            </a:r>
          </a:p>
          <a:p>
            <a:pPr lvl="0"/>
            <a:r>
              <a:rPr lang="en-IN" dirty="0">
                <a:latin typeface="Times New Roman" panose="02020603050405020304" pitchFamily="18" charset="0"/>
                <a:cs typeface="Times New Roman" panose="02020603050405020304" pitchFamily="18" charset="0"/>
              </a:rPr>
              <a:t>Pharmacy and inventory tracking </a:t>
            </a:r>
          </a:p>
          <a:p>
            <a:pPr lvl="0"/>
            <a:r>
              <a:rPr lang="en-IN" dirty="0">
                <a:latin typeface="Times New Roman" panose="02020603050405020304" pitchFamily="18" charset="0"/>
                <a:cs typeface="Times New Roman" panose="02020603050405020304" pitchFamily="18" charset="0"/>
              </a:rPr>
              <a:t>Laboratory report management </a:t>
            </a:r>
          </a:p>
          <a:p>
            <a:pPr lvl="0"/>
            <a:r>
              <a:rPr lang="en-IN" dirty="0">
                <a:latin typeface="Times New Roman" panose="02020603050405020304" pitchFamily="18" charset="0"/>
                <a:cs typeface="Times New Roman" panose="02020603050405020304" pitchFamily="18" charset="0"/>
              </a:rPr>
              <a:t>Centralized Admin Dashboard </a:t>
            </a:r>
          </a:p>
          <a:p>
            <a:pPr lvl="0"/>
            <a:r>
              <a:rPr lang="en-IN" dirty="0">
                <a:latin typeface="Times New Roman" panose="02020603050405020304" pitchFamily="18" charset="0"/>
                <a:cs typeface="Times New Roman" panose="02020603050405020304" pitchFamily="18" charset="0"/>
              </a:rPr>
              <a:t>Secure authentication using JWT </a:t>
            </a:r>
          </a:p>
          <a:p>
            <a:r>
              <a:rPr lang="en-IN" dirty="0">
                <a:latin typeface="Times New Roman" panose="02020603050405020304" pitchFamily="18" charset="0"/>
                <a:cs typeface="Times New Roman" panose="02020603050405020304" pitchFamily="18" charset="0"/>
              </a:rPr>
              <a:t>This integration reduces manual effort, improves data accuracy, and makes hospital operations more efficient</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pPr lvl="0"/>
            <a:r>
              <a:rPr lang="en-IN" dirty="0">
                <a:latin typeface="Times New Roman" panose="02020603050405020304" pitchFamily="18" charset="0"/>
                <a:cs typeface="Times New Roman" panose="02020603050405020304" pitchFamily="18" charset="0"/>
              </a:rPr>
              <a:t>To digitize hospital operations and patient records. </a:t>
            </a:r>
          </a:p>
          <a:p>
            <a:pPr lvl="0"/>
            <a:r>
              <a:rPr lang="en-IN" dirty="0">
                <a:latin typeface="Times New Roman" panose="02020603050405020304" pitchFamily="18" charset="0"/>
                <a:cs typeface="Times New Roman" panose="02020603050405020304" pitchFamily="18" charset="0"/>
              </a:rPr>
              <a:t>To provide centralized </a:t>
            </a:r>
            <a:r>
              <a:rPr lang="en-IN" b="1" dirty="0">
                <a:latin typeface="Times New Roman" panose="02020603050405020304" pitchFamily="18" charset="0"/>
                <a:cs typeface="Times New Roman" panose="02020603050405020304" pitchFamily="18" charset="0"/>
              </a:rPr>
              <a:t>Electronic Medical Records (EMR)</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To simplify doctor appointment scheduling. </a:t>
            </a:r>
          </a:p>
          <a:p>
            <a:pPr lvl="0"/>
            <a:r>
              <a:rPr lang="en-IN" dirty="0">
                <a:latin typeface="Times New Roman" panose="02020603050405020304" pitchFamily="18" charset="0"/>
                <a:cs typeface="Times New Roman" panose="02020603050405020304" pitchFamily="18" charset="0"/>
              </a:rPr>
              <a:t>To reduce patient waiting time using token and queue management. </a:t>
            </a:r>
          </a:p>
          <a:p>
            <a:pPr lvl="0"/>
            <a:r>
              <a:rPr lang="en-IN" dirty="0">
                <a:latin typeface="Times New Roman" panose="02020603050405020304" pitchFamily="18" charset="0"/>
                <a:cs typeface="Times New Roman" panose="02020603050405020304" pitchFamily="18" charset="0"/>
              </a:rPr>
              <a:t>To improve billing and insurance management. </a:t>
            </a:r>
          </a:p>
          <a:p>
            <a:pPr lvl="0"/>
            <a:r>
              <a:rPr lang="en-IN" dirty="0">
                <a:latin typeface="Times New Roman" panose="02020603050405020304" pitchFamily="18" charset="0"/>
                <a:cs typeface="Times New Roman" panose="02020603050405020304" pitchFamily="18" charset="0"/>
              </a:rPr>
              <a:t>To manage pharmacy inventory and laboratory reports. </a:t>
            </a:r>
          </a:p>
          <a:p>
            <a:pPr lvl="0"/>
            <a:r>
              <a:rPr lang="en-IN" dirty="0">
                <a:latin typeface="Times New Roman" panose="02020603050405020304" pitchFamily="18" charset="0"/>
                <a:cs typeface="Times New Roman" panose="02020603050405020304" pitchFamily="18" charset="0"/>
              </a:rPr>
              <a:t>To provide secure role-based access. </a:t>
            </a:r>
          </a:p>
          <a:p>
            <a:pPr lvl="0"/>
            <a:r>
              <a:rPr lang="en-IN" dirty="0">
                <a:latin typeface="Times New Roman" panose="02020603050405020304" pitchFamily="18" charset="0"/>
                <a:cs typeface="Times New Roman" panose="02020603050405020304" pitchFamily="18" charset="0"/>
              </a:rPr>
              <a:t>To improve overall hospital efficiency and patient experience.</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fontScale="77500" lnSpcReduction="20000"/>
          </a:bodyPr>
          <a:lstStyle/>
          <a:p>
            <a:r>
              <a:rPr lang="en-IN" b="1" dirty="0">
                <a:latin typeface="Times New Roman" panose="02020603050405020304" pitchFamily="18" charset="0"/>
                <a:cs typeface="Times New Roman" panose="02020603050405020304" pitchFamily="18" charset="0"/>
              </a:rPr>
              <a:t>1. User &amp; Authentication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Secure sign-up/login with JWT tokens and role-based access.</a:t>
            </a:r>
          </a:p>
          <a:p>
            <a:r>
              <a:rPr lang="en-IN" b="1" dirty="0">
                <a:latin typeface="Times New Roman" panose="02020603050405020304" pitchFamily="18" charset="0"/>
                <a:cs typeface="Times New Roman" panose="02020603050405020304" pitchFamily="18" charset="0"/>
              </a:rPr>
              <a:t>2. Patient &amp; EMR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Patient profiles with complete medical and diagnosis history.</a:t>
            </a:r>
          </a:p>
          <a:p>
            <a:r>
              <a:rPr lang="en-IN" b="1" dirty="0">
                <a:latin typeface="Times New Roman" panose="02020603050405020304" pitchFamily="18" charset="0"/>
                <a:cs typeface="Times New Roman" panose="02020603050405020304" pitchFamily="18" charset="0"/>
              </a:rPr>
              <a:t>3. Doctor &amp; Appointment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Doctor availability, specialization search, and scheduling.</a:t>
            </a:r>
          </a:p>
          <a:p>
            <a:r>
              <a:rPr lang="en-IN" b="1" dirty="0">
                <a:latin typeface="Times New Roman" panose="02020603050405020304" pitchFamily="18" charset="0"/>
                <a:cs typeface="Times New Roman" panose="02020603050405020304" pitchFamily="18" charset="0"/>
              </a:rPr>
              <a:t>4. Token &amp; Queue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Real-time digital token generation and live queue status.</a:t>
            </a:r>
          </a:p>
          <a:p>
            <a:r>
              <a:rPr lang="en-IN" b="1" dirty="0">
                <a:latin typeface="Times New Roman" panose="02020603050405020304" pitchFamily="18" charset="0"/>
                <a:cs typeface="Times New Roman" panose="02020603050405020304" pitchFamily="18" charset="0"/>
              </a:rPr>
              <a:t>5. Billing &amp; Insurance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Automated invoice generation and insurance claim processing.</a:t>
            </a:r>
          </a:p>
          <a:p>
            <a:r>
              <a:rPr lang="en-IN" b="1" dirty="0">
                <a:latin typeface="Times New Roman" panose="02020603050405020304" pitchFamily="18" charset="0"/>
                <a:cs typeface="Times New Roman" panose="02020603050405020304" pitchFamily="18" charset="0"/>
              </a:rPr>
              <a:t>6. Pharmacy, Inventory &amp; Lab</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Medicine stock, dispensing, and diagnostic laboratory reports.</a:t>
            </a:r>
          </a:p>
          <a:p>
            <a:r>
              <a:rPr lang="en-IN" b="1" dirty="0">
                <a:latin typeface="Times New Roman" panose="02020603050405020304" pitchFamily="18" charset="0"/>
                <a:cs typeface="Times New Roman" panose="02020603050405020304" pitchFamily="18" charset="0"/>
              </a:rPr>
              <a:t>7. Admin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Centralized analytics, staff management, and reporting</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React.js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Used to develop the user interface.</a:t>
            </a:r>
          </a:p>
          <a:p>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Node.js + Express.js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Used to develop the server-side application and REST APIs.</a:t>
            </a:r>
          </a:p>
          <a:p>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Used as the relational database for storing hospital data.</a:t>
            </a:r>
          </a:p>
          <a:p>
            <a:r>
              <a:rPr lang="en-IN" b="1" dirty="0">
                <a:latin typeface="Times New Roman" panose="02020603050405020304" pitchFamily="18" charset="0"/>
                <a:cs typeface="Times New Roman" panose="02020603050405020304" pitchFamily="18" charset="0"/>
              </a:rPr>
              <a:t>ORM:</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Sequelize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Used to communicate between Node.js/Express and MySQL using JavaScript models.</a:t>
            </a:r>
          </a:p>
          <a:p>
            <a:r>
              <a:rPr lang="en-IN" b="1" dirty="0">
                <a:latin typeface="Times New Roman" panose="02020603050405020304" pitchFamily="18" charset="0"/>
                <a:cs typeface="Times New Roman" panose="02020603050405020304" pitchFamily="18" charset="0"/>
              </a:rPr>
              <a:t>Authentication:</a:t>
            </a:r>
            <a:r>
              <a:rPr lang="en-IN" dirty="0">
                <a:latin typeface="Times New Roman" panose="02020603050405020304" pitchFamily="18" charset="0"/>
                <a:cs typeface="Times New Roman" panose="02020603050405020304" pitchFamily="18" charset="0"/>
              </a:rPr>
              <a:t> JWT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Used to identify users and protect private APIs</a:t>
            </a:r>
          </a:p>
          <a:p>
            <a:endParaRPr lang="en-US" b="1"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8" name="TextBox 7">
            <a:extLst>
              <a:ext uri="{FF2B5EF4-FFF2-40B4-BE49-F238E27FC236}">
                <a16:creationId xmlns:a16="http://schemas.microsoft.com/office/drawing/2014/main" id="{09D70609-B2D7-BAD9-778B-3D8552A8727D}"/>
              </a:ext>
            </a:extLst>
          </p:cNvPr>
          <p:cNvSpPr txBox="1"/>
          <p:nvPr/>
        </p:nvSpPr>
        <p:spPr>
          <a:xfrm>
            <a:off x="1042219" y="1212869"/>
            <a:ext cx="8377084" cy="2308324"/>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Hospital Management &amp; Appointment System</a:t>
            </a:r>
            <a:r>
              <a:rPr lang="en-IN" dirty="0">
                <a:latin typeface="Times New Roman" panose="02020603050405020304" pitchFamily="18" charset="0"/>
                <a:cs typeface="Times New Roman" panose="02020603050405020304" pitchFamily="18" charset="0"/>
              </a:rPr>
              <a:t> delivers a </a:t>
            </a:r>
            <a:r>
              <a:rPr lang="en-IN" b="1" dirty="0">
                <a:latin typeface="Times New Roman" panose="02020603050405020304" pitchFamily="18" charset="0"/>
                <a:cs typeface="Times New Roman" panose="02020603050405020304" pitchFamily="18" charset="0"/>
              </a:rPr>
              <a:t>secure, scalable, and normalized database-backed solution</a:t>
            </a:r>
            <a:r>
              <a:rPr lang="en-IN" dirty="0">
                <a:latin typeface="Times New Roman" panose="02020603050405020304" pitchFamily="18" charset="0"/>
                <a:cs typeface="Times New Roman" panose="02020603050405020304" pitchFamily="18" charset="0"/>
              </a:rPr>
              <a:t> that unifies every stage of hospital operations — from registration to billing.</a:t>
            </a:r>
          </a:p>
          <a:p>
            <a:pPr>
              <a:buNone/>
            </a:pPr>
            <a:r>
              <a:rPr lang="en-IN" dirty="0">
                <a:latin typeface="Times New Roman" panose="02020603050405020304" pitchFamily="18" charset="0"/>
                <a:cs typeface="Times New Roman" panose="02020603050405020304" pitchFamily="18" charset="0"/>
              </a:rPr>
              <a:t>By combining a </a:t>
            </a:r>
            <a:r>
              <a:rPr lang="en-IN" b="1" dirty="0">
                <a:latin typeface="Times New Roman" panose="02020603050405020304" pitchFamily="18" charset="0"/>
                <a:cs typeface="Times New Roman" panose="02020603050405020304" pitchFamily="18" charset="0"/>
              </a:rPr>
              <a:t>relational MySQL schema, </a:t>
            </a:r>
            <a:r>
              <a:rPr lang="en-IN" b="1" dirty="0" err="1">
                <a:latin typeface="Times New Roman" panose="02020603050405020304" pitchFamily="18" charset="0"/>
                <a:cs typeface="Times New Roman" panose="02020603050405020304" pitchFamily="18" charset="0"/>
              </a:rPr>
              <a:t>Sequelize</a:t>
            </a:r>
            <a:r>
              <a:rPr lang="en-IN" b="1" dirty="0">
                <a:latin typeface="Times New Roman" panose="02020603050405020304" pitchFamily="18" charset="0"/>
                <a:cs typeface="Times New Roman" panose="02020603050405020304" pitchFamily="18" charset="0"/>
              </a:rPr>
              <a:t> ORM, and a JWT-secured Express/Node backend with a responsive React frontend</a:t>
            </a:r>
            <a:r>
              <a:rPr lang="en-IN" dirty="0">
                <a:latin typeface="Times New Roman" panose="02020603050405020304" pitchFamily="18" charset="0"/>
                <a:cs typeface="Times New Roman" panose="02020603050405020304" pitchFamily="18" charset="0"/>
              </a:rPr>
              <a:t>, the system demonstrates strong applied database engineering and distributed backend design.</a:t>
            </a:r>
          </a:p>
          <a:p>
            <a:pPr>
              <a:buNone/>
            </a:pPr>
            <a:r>
              <a:rPr lang="en-IN" dirty="0">
                <a:latin typeface="Times New Roman" panose="02020603050405020304" pitchFamily="18" charset="0"/>
                <a:cs typeface="Times New Roman" panose="02020603050405020304" pitchFamily="18" charset="0"/>
              </a:rPr>
              <a:t>It significantly </a:t>
            </a:r>
            <a:r>
              <a:rPr lang="en-IN" b="1" dirty="0">
                <a:latin typeface="Times New Roman" panose="02020603050405020304" pitchFamily="18" charset="0"/>
                <a:cs typeface="Times New Roman" panose="02020603050405020304" pitchFamily="18" charset="0"/>
              </a:rPr>
              <a:t>reduces manual effort, improves data accuracy, and enhances the overall patient experience</a:t>
            </a:r>
            <a:r>
              <a:rPr lang="en-IN" dirty="0">
                <a:latin typeface="Times New Roman" panose="02020603050405020304" pitchFamily="18" charset="0"/>
                <a:cs typeface="Times New Roman" panose="02020603050405020304" pitchFamily="18" charset="0"/>
              </a:rPr>
              <a:t>, making it a practical model of modern healthcare software.</a:t>
            </a:r>
          </a:p>
        </p:txBody>
      </p:sp>
      <p:sp>
        <p:nvSpPr>
          <p:cNvPr id="10" name="TextBox 9">
            <a:extLst>
              <a:ext uri="{FF2B5EF4-FFF2-40B4-BE49-F238E27FC236}">
                <a16:creationId xmlns:a16="http://schemas.microsoft.com/office/drawing/2014/main" id="{1C25722E-E00D-1BB0-31A5-83BF93898BAA}"/>
              </a:ext>
            </a:extLst>
          </p:cNvPr>
          <p:cNvSpPr txBox="1"/>
          <p:nvPr/>
        </p:nvSpPr>
        <p:spPr>
          <a:xfrm>
            <a:off x="1042219" y="3890805"/>
            <a:ext cx="6096000" cy="1754326"/>
          </a:xfrm>
          <a:prstGeom prst="rect">
            <a:avLst/>
          </a:prstGeom>
          <a:noFill/>
        </p:spPr>
        <p:txBody>
          <a:bodyPr wrap="square">
            <a:spAutoFit/>
          </a:bodyPr>
          <a:lstStyle/>
          <a:p>
            <a:r>
              <a:rPr lang="en-IN" b="1" dirty="0"/>
              <a:t>Future Enhancements</a:t>
            </a:r>
            <a:r>
              <a:rPr lang="en-IN" dirty="0"/>
              <a:t>:</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AI-based appointment prediction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SMS/email alerts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Telemedicine video consultations </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Companion mobile application</a:t>
            </a:r>
          </a:p>
          <a:p>
            <a:endParaRPr lang="en-IN"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9322</TotalTime>
  <Words>1041</Words>
  <Application>Microsoft Office PowerPoint</Application>
  <PresentationFormat>Widescreen</PresentationFormat>
  <Paragraphs>129</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1st  REVIEW  Hospital Management &amp; Appointment System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shrinithagandu@outlook.com</cp:lastModifiedBy>
  <cp:revision>97</cp:revision>
  <dcterms:created xsi:type="dcterms:W3CDTF">2022-05-20T10:20:31Z</dcterms:created>
  <dcterms:modified xsi:type="dcterms:W3CDTF">2026-08-17T07:13:26Z</dcterms:modified>
</cp:coreProperties>
</file>